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ENE\Adidas%20Sales%20Datasets_BTGroup_4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ENE\Adidas%20Sales%20Datasets_BTGroup_4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ENE\Adidas%20Sales%20Datasets_BTGroup_4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ENE\Adidas%20Sales%20Datasets_BTGroup_4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ENE\Adidas%20Sales%20Datasets_BTGroup_4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[Adidas Sales Datasets_BTGroup_4D.xlsx]Pivot Tables!Products</c:name>
    <c:fmtId val="46"/>
  </c:pivotSource>
  <c:chart>
    <c:autoTitleDeleted val="1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45715882811945802"/>
          <c:y val="0"/>
          <c:w val="0.52070312832517562"/>
          <c:h val="1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'Pivot Tables'!$P$3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Tables'!$O$4:$O$10</c:f>
              <c:strCache>
                <c:ptCount val="6"/>
                <c:pt idx="0">
                  <c:v>Men's Street Footwear</c:v>
                </c:pt>
                <c:pt idx="1">
                  <c:v>Women's Apparel</c:v>
                </c:pt>
                <c:pt idx="2">
                  <c:v>Men's Athletic Footwear</c:v>
                </c:pt>
                <c:pt idx="3">
                  <c:v>Women's Street Footwear</c:v>
                </c:pt>
                <c:pt idx="4">
                  <c:v>Men's Apparel</c:v>
                </c:pt>
                <c:pt idx="5">
                  <c:v>Women's Athletic Footwear</c:v>
                </c:pt>
              </c:strCache>
            </c:strRef>
          </c:cat>
          <c:val>
            <c:numRef>
              <c:f>'Pivot Tables'!$P$4:$P$10</c:f>
              <c:numCache>
                <c:formatCode>_("$"* #,##0_);_("$"* \(#,##0\);_("$"* "-"??_);_(@_)</c:formatCode>
                <c:ptCount val="6"/>
                <c:pt idx="0">
                  <c:v>208826244</c:v>
                </c:pt>
                <c:pt idx="1">
                  <c:v>179038860</c:v>
                </c:pt>
                <c:pt idx="2">
                  <c:v>153673680</c:v>
                </c:pt>
                <c:pt idx="3">
                  <c:v>128002813</c:v>
                </c:pt>
                <c:pt idx="4">
                  <c:v>123728632</c:v>
                </c:pt>
                <c:pt idx="5">
                  <c:v>106631896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04-4F2C-8557-B0B77A9B43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92264952"/>
        <c:axId val="256990128"/>
        <c:axId val="0"/>
      </c:bar3DChart>
      <c:valAx>
        <c:axId val="256990128"/>
        <c:scaling>
          <c:orientation val="minMax"/>
        </c:scaling>
        <c:delete val="1"/>
        <c:axPos val="b"/>
        <c:numFmt formatCode="_(&quot;$&quot;* #,##0_);_(&quot;$&quot;* \(#,##0\);_(&quot;$&quot;* &quot;-&quot;??_);_(@_)" sourceLinked="1"/>
        <c:majorTickMark val="none"/>
        <c:minorTickMark val="none"/>
        <c:tickLblPos val="nextTo"/>
        <c:crossAx val="292264952"/>
        <c:crosses val="autoZero"/>
        <c:crossBetween val="between"/>
      </c:valAx>
      <c:catAx>
        <c:axId val="2922649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699012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>
        <a:lumMod val="85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[Adidas Sales Datasets_BTGroup_4D.xlsx]Pivot Tables!Region_1</c:name>
    <c:fmtId val="41"/>
  </c:pivotSource>
  <c:chart>
    <c:autoTitleDeleted val="1"/>
    <c:pivotFmts>
      <c:pivotFmt>
        <c:idx val="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>
              <a:shade val="53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4"/>
        <c:spPr>
          <a:solidFill>
            <a:schemeClr val="accent5">
              <a:shade val="76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5"/>
        <c:spPr>
          <a:solidFill>
            <a:schemeClr val="accent5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6"/>
        <c:spPr>
          <a:solidFill>
            <a:schemeClr val="accent5">
              <a:tint val="77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7"/>
        <c:spPr>
          <a:solidFill>
            <a:schemeClr val="accent5">
              <a:tint val="54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8"/>
        <c:spPr>
          <a:solidFill>
            <a:schemeClr val="accent5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5">
              <a:shade val="53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0"/>
        <c:spPr>
          <a:solidFill>
            <a:schemeClr val="accent5">
              <a:shade val="76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1"/>
        <c:spPr>
          <a:solidFill>
            <a:schemeClr val="accent5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2"/>
        <c:spPr>
          <a:solidFill>
            <a:schemeClr val="accent5">
              <a:tint val="77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3"/>
        <c:spPr>
          <a:solidFill>
            <a:schemeClr val="accent5">
              <a:tint val="54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4"/>
        <c:spPr>
          <a:solidFill>
            <a:schemeClr val="accent5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5">
              <a:shade val="53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6"/>
        <c:spPr>
          <a:solidFill>
            <a:schemeClr val="accent5">
              <a:shade val="76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7"/>
        <c:spPr>
          <a:solidFill>
            <a:schemeClr val="accent5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8"/>
        <c:spPr>
          <a:solidFill>
            <a:schemeClr val="accent5">
              <a:tint val="77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9"/>
        <c:spPr>
          <a:solidFill>
            <a:schemeClr val="accent5">
              <a:tint val="54000"/>
            </a:schemeClr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</c:pivotFmts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2.0135200309429643E-3"/>
          <c:w val="1"/>
          <c:h val="0.99546759028607901"/>
        </c:manualLayout>
      </c:layout>
      <c:pie3DChart>
        <c:varyColors val="1"/>
        <c:ser>
          <c:idx val="0"/>
          <c:order val="0"/>
          <c:tx>
            <c:strRef>
              <c:f>'Pivot Tables'!$M$3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53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B3EF-41ED-9484-BD885A87D82D}"/>
              </c:ext>
            </c:extLst>
          </c:dPt>
          <c:dPt>
            <c:idx val="1"/>
            <c:bubble3D val="0"/>
            <c:spPr>
              <a:solidFill>
                <a:schemeClr val="accent5">
                  <a:shade val="76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B3EF-41ED-9484-BD885A87D82D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B3EF-41ED-9484-BD885A87D82D}"/>
              </c:ext>
            </c:extLst>
          </c:dPt>
          <c:dPt>
            <c:idx val="3"/>
            <c:bubble3D val="0"/>
            <c:spPr>
              <a:solidFill>
                <a:schemeClr val="accent5">
                  <a:tint val="77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7-B3EF-41ED-9484-BD885A87D82D}"/>
              </c:ext>
            </c:extLst>
          </c:dPt>
          <c:dPt>
            <c:idx val="4"/>
            <c:bubble3D val="0"/>
            <c:spPr>
              <a:solidFill>
                <a:schemeClr val="accent5">
                  <a:tint val="54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9-B3EF-41ED-9484-BD885A87D82D}"/>
              </c:ext>
            </c:extLst>
          </c:dPt>
          <c:dLbls>
            <c:dLbl>
              <c:idx val="0"/>
              <c:layout>
                <c:manualLayout>
                  <c:x val="-0.16468260697529818"/>
                  <c:y val="0.12673238329144468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3EF-41ED-9484-BD885A87D82D}"/>
                </c:ext>
              </c:extLst>
            </c:dLbl>
            <c:dLbl>
              <c:idx val="1"/>
              <c:layout>
                <c:manualLayout>
                  <c:x val="-0.15910925819865768"/>
                  <c:y val="-0.32183889293007756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3EF-41ED-9484-BD885A87D82D}"/>
                </c:ext>
              </c:extLst>
            </c:dLbl>
            <c:dLbl>
              <c:idx val="2"/>
              <c:layout>
                <c:manualLayout>
                  <c:x val="0.15196726189523935"/>
                  <c:y val="-0.31613816408357781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3EF-41ED-9484-BD885A87D82D}"/>
                </c:ext>
              </c:extLst>
            </c:dLbl>
            <c:dLbl>
              <c:idx val="3"/>
              <c:layout>
                <c:manualLayout>
                  <c:x val="0.16129798437111717"/>
                  <c:y val="2.7925851527967237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3EF-41ED-9484-BD885A87D82D}"/>
                </c:ext>
              </c:extLst>
            </c:dLbl>
            <c:dLbl>
              <c:idx val="4"/>
              <c:layout>
                <c:manualLayout>
                  <c:x val="0.11178544041688397"/>
                  <c:y val="0.10865447518754387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3EF-41ED-9484-BD885A87D82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Tables'!$L$4:$L$9</c:f>
              <c:strCache>
                <c:ptCount val="5"/>
                <c:pt idx="0">
                  <c:v>West</c:v>
                </c:pt>
                <c:pt idx="1">
                  <c:v>Northeast</c:v>
                </c:pt>
                <c:pt idx="2">
                  <c:v>Southeast</c:v>
                </c:pt>
                <c:pt idx="3">
                  <c:v>South</c:v>
                </c:pt>
                <c:pt idx="4">
                  <c:v>Midwest</c:v>
                </c:pt>
              </c:strCache>
            </c:strRef>
          </c:cat>
          <c:val>
            <c:numRef>
              <c:f>'Pivot Tables'!$M$4:$M$9</c:f>
              <c:numCache>
                <c:formatCode>_("$"* #,##0_);_("$"* \(#,##0\);_("$"* "-"??_);_(@_)</c:formatCode>
                <c:ptCount val="5"/>
                <c:pt idx="0">
                  <c:v>269943182</c:v>
                </c:pt>
                <c:pt idx="1">
                  <c:v>186324067</c:v>
                </c:pt>
                <c:pt idx="2">
                  <c:v>163171236</c:v>
                </c:pt>
                <c:pt idx="3">
                  <c:v>144663181</c:v>
                </c:pt>
                <c:pt idx="4">
                  <c:v>135800459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3EF-41ED-9484-BD885A87D82D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3DChart>
      <c:spPr>
        <a:solidFill>
          <a:schemeClr val="bg1">
            <a:lumMod val="85000"/>
          </a:schemeClr>
        </a:solidFill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[Adidas Sales Datasets_BTGroup_4D.xlsx]Pivot Tables!PivotTable13</c:name>
    <c:fmtId val="7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rgbClr val="FF0000"/>
                </a:solidFill>
              </a:rPr>
              <a:t>Sales</a:t>
            </a:r>
            <a:r>
              <a:rPr lang="en-US" b="1" baseline="0">
                <a:solidFill>
                  <a:srgbClr val="FF0000"/>
                </a:solidFill>
              </a:rPr>
              <a:t> Trend</a:t>
            </a:r>
            <a:endParaRPr lang="en-US" b="1">
              <a:solidFill>
                <a:srgbClr val="FF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Tables'!$AB$15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multiLvlStrRef>
              <c:f>'Pivot Tables'!$AA$16:$AA$42</c:f>
              <c:multiLvlStrCache>
                <c:ptCount val="2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</c:lvl>
                <c:lvl>
                  <c:pt idx="0">
                    <c:v>2020</c:v>
                  </c:pt>
                  <c:pt idx="12">
                    <c:v>2021</c:v>
                  </c:pt>
                </c:lvl>
              </c:multiLvlStrCache>
            </c:multiLvlStrRef>
          </c:cat>
          <c:val>
            <c:numRef>
              <c:f>'Pivot Tables'!$AB$16:$AB$42</c:f>
              <c:numCache>
                <c:formatCode>_("$"* #,##0_);_("$"* \(#,##0\);_("$"* "-"??_);_(@_)</c:formatCode>
                <c:ptCount val="24"/>
                <c:pt idx="0">
                  <c:v>16253746</c:v>
                </c:pt>
                <c:pt idx="1">
                  <c:v>14997988</c:v>
                </c:pt>
                <c:pt idx="2">
                  <c:v>17660577</c:v>
                </c:pt>
                <c:pt idx="3">
                  <c:v>24607006</c:v>
                </c:pt>
                <c:pt idx="4">
                  <c:v>16918014</c:v>
                </c:pt>
                <c:pt idx="5">
                  <c:v>8829819</c:v>
                </c:pt>
                <c:pt idx="6">
                  <c:v>17146013</c:v>
                </c:pt>
                <c:pt idx="7">
                  <c:v>19877980</c:v>
                </c:pt>
                <c:pt idx="8">
                  <c:v>18304436</c:v>
                </c:pt>
                <c:pt idx="9">
                  <c:v>10836269</c:v>
                </c:pt>
                <c:pt idx="10">
                  <c:v>8622300</c:v>
                </c:pt>
                <c:pt idx="11">
                  <c:v>8026527</c:v>
                </c:pt>
                <c:pt idx="12">
                  <c:v>55225396</c:v>
                </c:pt>
                <c:pt idx="13">
                  <c:v>46102165</c:v>
                </c:pt>
                <c:pt idx="14">
                  <c:v>39148532</c:v>
                </c:pt>
                <c:pt idx="15">
                  <c:v>47732964</c:v>
                </c:pt>
                <c:pt idx="16">
                  <c:v>63589681</c:v>
                </c:pt>
                <c:pt idx="17">
                  <c:v>65917553</c:v>
                </c:pt>
                <c:pt idx="18">
                  <c:v>78334681</c:v>
                </c:pt>
                <c:pt idx="19">
                  <c:v>72288221</c:v>
                </c:pt>
                <c:pt idx="20">
                  <c:v>59357023</c:v>
                </c:pt>
                <c:pt idx="21">
                  <c:v>53074764</c:v>
                </c:pt>
                <c:pt idx="22">
                  <c:v>59235040</c:v>
                </c:pt>
                <c:pt idx="23">
                  <c:v>77815430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772-4F12-AC77-A0C95A22A7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2258288"/>
        <c:axId val="292262600"/>
      </c:lineChart>
      <c:catAx>
        <c:axId val="292258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262600"/>
        <c:crosses val="autoZero"/>
        <c:auto val="1"/>
        <c:lblAlgn val="ctr"/>
        <c:lblOffset val="100"/>
        <c:noMultiLvlLbl val="0"/>
      </c:catAx>
      <c:valAx>
        <c:axId val="292262600"/>
        <c:scaling>
          <c:orientation val="minMax"/>
        </c:scaling>
        <c:delete val="0"/>
        <c:axPos val="l"/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25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>
        <a:lumMod val="85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[Adidas Sales Datasets_BTGroup_4D.xlsx]Pivot Tables!PivotTable5</c:name>
    <c:fmtId val="6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rgbClr val="FF0000"/>
                </a:solidFill>
              </a:rPr>
              <a:t>Sales</a:t>
            </a:r>
            <a:r>
              <a:rPr lang="en-US" b="1" baseline="0">
                <a:solidFill>
                  <a:srgbClr val="FF0000"/>
                </a:solidFill>
              </a:rPr>
              <a:t> Channel</a:t>
            </a:r>
            <a:endParaRPr lang="en-US" b="1">
              <a:solidFill>
                <a:srgbClr val="FF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Tables'!$Y$4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Tables'!$X$5:$X$8</c:f>
              <c:strCache>
                <c:ptCount val="3"/>
                <c:pt idx="0">
                  <c:v>In-store</c:v>
                </c:pt>
                <c:pt idx="1">
                  <c:v>Outlet</c:v>
                </c:pt>
                <c:pt idx="2">
                  <c:v>Online</c:v>
                </c:pt>
              </c:strCache>
            </c:strRef>
          </c:cat>
          <c:val>
            <c:numRef>
              <c:f>'Pivot Tables'!$Y$5:$Y$8</c:f>
              <c:numCache>
                <c:formatCode>_("$"* #,##0_);_("$"* \(#,##0\);_("$"* "-"??_);_(@_)</c:formatCode>
                <c:ptCount val="3"/>
                <c:pt idx="0">
                  <c:v>356643750</c:v>
                </c:pt>
                <c:pt idx="1">
                  <c:v>295585493</c:v>
                </c:pt>
                <c:pt idx="2">
                  <c:v>247672882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92-4463-BBE5-28C54BF421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2259856"/>
        <c:axId val="292261424"/>
      </c:barChart>
      <c:catAx>
        <c:axId val="292259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261424"/>
        <c:crosses val="autoZero"/>
        <c:auto val="1"/>
        <c:lblAlgn val="ctr"/>
        <c:lblOffset val="100"/>
        <c:noMultiLvlLbl val="0"/>
      </c:catAx>
      <c:valAx>
        <c:axId val="292261424"/>
        <c:scaling>
          <c:orientation val="minMax"/>
        </c:scaling>
        <c:delete val="0"/>
        <c:axPos val="l"/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259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4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[Adidas Sales Datasets_BTGroup_4D.xlsx]Pivot Tables!Retailer_1</c:name>
    <c:fmtId val="19"/>
  </c:pivotSource>
  <c:chart>
    <c:autoTitleDeleted val="1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393927744326077"/>
          <c:y val="2.8972452351359191E-3"/>
          <c:w val="1"/>
          <c:h val="0.9971028253821213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'Pivot Tables'!$J$3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Tables'!$I$4:$I$10</c:f>
              <c:strCache>
                <c:ptCount val="6"/>
                <c:pt idx="0">
                  <c:v>West Gear</c:v>
                </c:pt>
                <c:pt idx="1">
                  <c:v>Foot Locker</c:v>
                </c:pt>
                <c:pt idx="2">
                  <c:v>Sports Direct</c:v>
                </c:pt>
                <c:pt idx="3">
                  <c:v>Kohl's</c:v>
                </c:pt>
                <c:pt idx="4">
                  <c:v>Amazon</c:v>
                </c:pt>
                <c:pt idx="5">
                  <c:v>Walmart</c:v>
                </c:pt>
              </c:strCache>
            </c:strRef>
          </c:cat>
          <c:val>
            <c:numRef>
              <c:f>'Pivot Tables'!$J$4:$J$10</c:f>
              <c:numCache>
                <c:formatCode>_("$"* #,##0_);_("$"* \(#,##0\);_("$"* "-"??_);_(@_)</c:formatCode>
                <c:ptCount val="6"/>
                <c:pt idx="0">
                  <c:v>242964333</c:v>
                </c:pt>
                <c:pt idx="1">
                  <c:v>220094720</c:v>
                </c:pt>
                <c:pt idx="2">
                  <c:v>182470997</c:v>
                </c:pt>
                <c:pt idx="3">
                  <c:v>102114753</c:v>
                </c:pt>
                <c:pt idx="4">
                  <c:v>77698912</c:v>
                </c:pt>
                <c:pt idx="5">
                  <c:v>74558410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2C-4950-8E6E-350AEE05355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92264168"/>
        <c:axId val="292260640"/>
      </c:barChart>
      <c:catAx>
        <c:axId val="292264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260640"/>
        <c:crosses val="autoZero"/>
        <c:auto val="1"/>
        <c:lblAlgn val="ctr"/>
        <c:lblOffset val="100"/>
        <c:noMultiLvlLbl val="0"/>
      </c:catAx>
      <c:valAx>
        <c:axId val="292260640"/>
        <c:scaling>
          <c:orientation val="minMax"/>
        </c:scaling>
        <c:delete val="1"/>
        <c:axPos val="b"/>
        <c:numFmt formatCode="_(&quot;$&quot;* #,##0_);_(&quot;$&quot;* \(#,##0\);_(&quot;$&quot;* &quot;-&quot;??_);_(@_)" sourceLinked="1"/>
        <c:majorTickMark val="none"/>
        <c:minorTickMark val="none"/>
        <c:tickLblPos val="nextTo"/>
        <c:crossAx val="292264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1">
        <a:lumMod val="20000"/>
        <a:lumOff val="80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8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08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22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3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101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74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60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87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2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5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7155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85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1376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47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799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9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88FC0-ADCE-41E7-B9E6-E143F896389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500F4D-AD06-4756-A5B9-FF2C1C38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33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3067" y="2476500"/>
            <a:ext cx="7766936" cy="1053404"/>
          </a:xfrm>
        </p:spPr>
        <p:txBody>
          <a:bodyPr/>
          <a:lstStyle/>
          <a:p>
            <a:r>
              <a:rPr lang="en-US" dirty="0"/>
              <a:t>ADIDAS SALES ANALYSIS</a:t>
            </a:r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921799C6-3FD9-4860-B69B-8B8FCF133D00}"/>
              </a:ext>
            </a:extLst>
          </p:cNvPr>
          <p:cNvPicPr preferRelativeResize="0"/>
          <p:nvPr/>
        </p:nvPicPr>
        <p:blipFill>
          <a:blip r:embed="rId2" cstate="print"/>
          <a:stretch>
            <a:fillRect/>
          </a:stretch>
        </p:blipFill>
        <p:spPr>
          <a:xfrm>
            <a:off x="4571386" y="1349970"/>
            <a:ext cx="1130299" cy="749299"/>
          </a:xfrm>
          <a:prstGeom prst="rect">
            <a:avLst/>
          </a:prstGeom>
          <a:noFill/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7238385" y="6057436"/>
            <a:ext cx="2101849" cy="3052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APRIL, 2026</a:t>
            </a:r>
          </a:p>
        </p:txBody>
      </p:sp>
    </p:spTree>
    <p:extLst>
      <p:ext uri="{BB962C8B-B14F-4D97-AF65-F5344CB8AC3E}">
        <p14:creationId xmlns:p14="http://schemas.microsoft.com/office/powerpoint/2010/main" val="20685625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308100"/>
            <a:ext cx="2726266" cy="571500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3934" y="2389189"/>
            <a:ext cx="7717366" cy="2246311"/>
          </a:xfrm>
        </p:spPr>
        <p:txBody>
          <a:bodyPr>
            <a:normAutofit/>
          </a:bodyPr>
          <a:lstStyle/>
          <a:p>
            <a:r>
              <a:rPr lang="en-US" sz="2000" dirty="0"/>
              <a:t>Understand Overall Sales Performance During the Period.</a:t>
            </a:r>
          </a:p>
          <a:p>
            <a:r>
              <a:rPr lang="en-US" sz="2000" dirty="0"/>
              <a:t>Identify Top Performing and Underperforming Products, Regions, Sales Channels, &amp; Retailers.</a:t>
            </a:r>
          </a:p>
          <a:p>
            <a:r>
              <a:rPr lang="en-US" sz="2000" dirty="0"/>
              <a:t>Provide Recommendations To Optimize Future Sales Campaigns &amp; Promotions.</a:t>
            </a:r>
          </a:p>
        </p:txBody>
      </p:sp>
    </p:spTree>
    <p:extLst>
      <p:ext uri="{BB962C8B-B14F-4D97-AF65-F5344CB8AC3E}">
        <p14:creationId xmlns:p14="http://schemas.microsoft.com/office/powerpoint/2010/main" val="188115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334" y="939800"/>
            <a:ext cx="4453466" cy="622300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 Overview: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4334" y="1779589"/>
            <a:ext cx="4910666" cy="3880773"/>
          </a:xfrm>
        </p:spPr>
        <p:txBody>
          <a:bodyPr>
            <a:normAutofit/>
          </a:bodyPr>
          <a:lstStyle/>
          <a:p>
            <a:r>
              <a:rPr lang="en-US" sz="2000" dirty="0"/>
              <a:t>Time Period: 2020 – 2021</a:t>
            </a:r>
          </a:p>
          <a:p>
            <a:r>
              <a:rPr lang="en-US" sz="2000" dirty="0"/>
              <a:t>Data Source: Adidas Sales Dataset</a:t>
            </a:r>
          </a:p>
          <a:p>
            <a:r>
              <a:rPr lang="en-US" sz="2000" dirty="0"/>
              <a:t>Key Fields: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i="1" dirty="0"/>
              <a:t>Product Category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i="1" dirty="0"/>
              <a:t>Regions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i="1" dirty="0"/>
              <a:t>Sales Revenue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i="1" dirty="0"/>
              <a:t>Channel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i="1" dirty="0"/>
              <a:t>Retailers</a:t>
            </a:r>
          </a:p>
        </p:txBody>
      </p:sp>
    </p:spTree>
    <p:extLst>
      <p:ext uri="{BB962C8B-B14F-4D97-AF65-F5344CB8AC3E}">
        <p14:creationId xmlns:p14="http://schemas.microsoft.com/office/powerpoint/2010/main" val="115628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066800"/>
            <a:ext cx="7361766" cy="558800"/>
          </a:xfrm>
        </p:spPr>
        <p:txBody>
          <a:bodyPr>
            <a:normAutofit fontScale="90000"/>
          </a:bodyPr>
          <a:lstStyle/>
          <a:p>
            <a:r>
              <a:rPr lang="en-US" dirty="0"/>
              <a:t>Key Performance Indicators (KPIs):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906342"/>
              </p:ext>
            </p:extLst>
          </p:nvPr>
        </p:nvGraphicFramePr>
        <p:xfrm>
          <a:off x="766763" y="1993897"/>
          <a:ext cx="8596312" cy="2762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653">
                <a:tc>
                  <a:txBody>
                    <a:bodyPr/>
                    <a:lstStyle/>
                    <a:p>
                      <a:r>
                        <a:rPr lang="en-US" dirty="0"/>
                        <a:t>KPIs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653">
                <a:tc>
                  <a:txBody>
                    <a:bodyPr/>
                    <a:lstStyle/>
                    <a:p>
                      <a:r>
                        <a:rPr lang="en-US" dirty="0"/>
                        <a:t>Total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$889,902,125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653">
                <a:tc>
                  <a:txBody>
                    <a:bodyPr/>
                    <a:lstStyle/>
                    <a:p>
                      <a:r>
                        <a:rPr lang="en-US" dirty="0"/>
                        <a:t>Total Profits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$332,134,761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653">
                <a:tc>
                  <a:txBody>
                    <a:bodyPr/>
                    <a:lstStyle/>
                    <a:p>
                      <a:r>
                        <a:rPr lang="en-US" dirty="0"/>
                        <a:t>Growth</a:t>
                      </a:r>
                      <a:r>
                        <a:rPr lang="en-US" baseline="0" dirty="0"/>
                        <a:t> 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653">
                <a:tc>
                  <a:txBody>
                    <a:bodyPr/>
                    <a:lstStyle/>
                    <a:p>
                      <a:r>
                        <a:rPr lang="en-US" dirty="0"/>
                        <a:t>Top</a:t>
                      </a:r>
                      <a:r>
                        <a:rPr lang="en-US" baseline="0" dirty="0"/>
                        <a:t> Region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653">
                <a:tc>
                  <a:txBody>
                    <a:bodyPr/>
                    <a:lstStyle/>
                    <a:p>
                      <a:r>
                        <a:rPr lang="en-US" dirty="0"/>
                        <a:t>Top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Men’s Street Footwear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653">
                <a:tc>
                  <a:txBody>
                    <a:bodyPr/>
                    <a:lstStyle/>
                    <a:p>
                      <a:r>
                        <a:rPr lang="en-US" dirty="0"/>
                        <a:t>Best</a:t>
                      </a:r>
                      <a:r>
                        <a:rPr lang="en-US" baseline="0" dirty="0"/>
                        <a:t> Channel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In-store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677333" y="5068889"/>
            <a:ext cx="8596841" cy="12176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defPPr>
              <a:defRPr lang="en-US"/>
            </a:defPPr>
            <a:lvl1pPr marL="342900" indent="-3429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42950" indent="-28575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971800" indent="-2286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429000" indent="-2286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886200" indent="-228600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US" dirty="0"/>
              <a:t>Sales growth and performance are driven by strong demand in the west region and dominance of men’s footwear.</a:t>
            </a:r>
          </a:p>
          <a:p>
            <a:r>
              <a:rPr lang="en-US" dirty="0"/>
              <a:t>Sales grew by 294% from 2020 to 2021, indicating strong market expansion.</a:t>
            </a:r>
          </a:p>
        </p:txBody>
      </p:sp>
    </p:spTree>
    <p:extLst>
      <p:ext uri="{BB962C8B-B14F-4D97-AF65-F5344CB8AC3E}">
        <p14:creationId xmlns:p14="http://schemas.microsoft.com/office/powerpoint/2010/main" val="116744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4859866" cy="558800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Performance: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12889"/>
            <a:ext cx="8596668" cy="1039811"/>
          </a:xfrm>
        </p:spPr>
        <p:txBody>
          <a:bodyPr>
            <a:normAutofit/>
          </a:bodyPr>
          <a:lstStyle/>
          <a:p>
            <a:r>
              <a:rPr lang="en-US" sz="2000" dirty="0"/>
              <a:t>Top Product: Men’s Street Footwear – Highest Sales ($208m+)</a:t>
            </a:r>
          </a:p>
          <a:p>
            <a:r>
              <a:rPr lang="en-US" sz="2000" dirty="0"/>
              <a:t>Lowest Product: Women’s Athletic Footwear – Lowest Sales ($106m)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8478" y="2679700"/>
            <a:ext cx="2934380" cy="215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C00000"/>
                </a:solidFill>
              </a:rPr>
              <a:t>Total Sales by Products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2116473"/>
              </p:ext>
            </p:extLst>
          </p:nvPr>
        </p:nvGraphicFramePr>
        <p:xfrm>
          <a:off x="2674389" y="3007186"/>
          <a:ext cx="4811222" cy="239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677334" y="5684171"/>
            <a:ext cx="8596668" cy="792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000" i="1" dirty="0"/>
              <a:t>Sales are heavily driven by men’s footwear, indicating a strong market preference for lifestyle and streetwear products.</a:t>
            </a:r>
          </a:p>
        </p:txBody>
      </p:sp>
    </p:spTree>
    <p:extLst>
      <p:ext uri="{BB962C8B-B14F-4D97-AF65-F5344CB8AC3E}">
        <p14:creationId xmlns:p14="http://schemas.microsoft.com/office/powerpoint/2010/main" val="272140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4872566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Regional Performance: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98589"/>
            <a:ext cx="8596668" cy="1217611"/>
          </a:xfrm>
        </p:spPr>
        <p:txBody>
          <a:bodyPr/>
          <a:lstStyle/>
          <a:p>
            <a:r>
              <a:rPr lang="en-US" dirty="0"/>
              <a:t>West – Highest Sales &amp; Profits</a:t>
            </a:r>
          </a:p>
          <a:p>
            <a:r>
              <a:rPr lang="en-US" dirty="0"/>
              <a:t>Midwest – Lowest Sales but Highest Growth (1641%)</a:t>
            </a:r>
          </a:p>
          <a:p>
            <a:r>
              <a:rPr lang="en-US" dirty="0"/>
              <a:t>South &amp; Southeast – Moderate Growth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0693009"/>
              </p:ext>
            </p:extLst>
          </p:nvPr>
        </p:nvGraphicFramePr>
        <p:xfrm>
          <a:off x="677334" y="2795589"/>
          <a:ext cx="4573815" cy="2513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563034" y="5527679"/>
            <a:ext cx="9190566" cy="1217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i="1" dirty="0"/>
              <a:t>The West region dominates in both sales and profitability, while the Midwest shows strong growth potential despite lower current sales.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335455"/>
              </p:ext>
            </p:extLst>
          </p:nvPr>
        </p:nvGraphicFramePr>
        <p:xfrm>
          <a:off x="5295901" y="2795589"/>
          <a:ext cx="5537199" cy="251301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193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4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Regional Market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2020 Bench Mark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>
                          <a:effectLst/>
                        </a:rPr>
                        <a:t>2021 Projected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>
                          <a:effectLst/>
                        </a:rPr>
                        <a:t>Variance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Growth 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6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 dirty="0">
                          <a:effectLst/>
                        </a:rPr>
                        <a:t>Midwest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           7,378,068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 128,422,391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121,044,323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u="none" strike="noStrike" dirty="0">
                          <a:effectLst/>
                        </a:rPr>
                        <a:t>1641%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6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Northeast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        40,749,709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 145,574,358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104,824,649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u="none" strike="noStrike" dirty="0">
                          <a:effectLst/>
                        </a:rPr>
                        <a:t>257%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6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South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        25,456,882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 119,206,299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  93,749,417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u="none" strike="noStrike" dirty="0">
                          <a:effectLst/>
                        </a:rPr>
                        <a:t>368%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6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Southeast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        31,600,863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 131,570,373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  99,969,510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u="none" strike="noStrike" dirty="0">
                          <a:effectLst/>
                        </a:rPr>
                        <a:t>316%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6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 dirty="0">
                          <a:effectLst/>
                        </a:rPr>
                        <a:t>West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        76,895,153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 193,048,029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>
                          <a:effectLst/>
                        </a:rPr>
                        <a:t> $  116,152,876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u="none" strike="noStrike" dirty="0">
                          <a:effectLst/>
                        </a:rPr>
                        <a:t>151%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76427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5101166" cy="647700"/>
          </a:xfrm>
        </p:spPr>
        <p:txBody>
          <a:bodyPr>
            <a:normAutofit fontScale="90000"/>
          </a:bodyPr>
          <a:lstStyle/>
          <a:p>
            <a:r>
              <a:rPr lang="en-US" dirty="0"/>
              <a:t>Sales Trend (2020-2021):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23989"/>
            <a:ext cx="8596668" cy="1370011"/>
          </a:xfrm>
        </p:spPr>
        <p:txBody>
          <a:bodyPr>
            <a:normAutofit/>
          </a:bodyPr>
          <a:lstStyle/>
          <a:p>
            <a:r>
              <a:rPr lang="en-US" sz="2000" dirty="0"/>
              <a:t>Sales increased significantly in 2021</a:t>
            </a:r>
          </a:p>
          <a:p>
            <a:r>
              <a:rPr lang="en-US" sz="2000" dirty="0"/>
              <a:t>Indicates growing demand</a:t>
            </a:r>
          </a:p>
          <a:p>
            <a:r>
              <a:rPr lang="en-US" sz="2000" dirty="0"/>
              <a:t>Strong market expansion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77334" y="5843589"/>
            <a:ext cx="8596668" cy="6588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000" i="1" dirty="0"/>
              <a:t>The growth may be driven by increased product demand, strong regional performance, and dominance of in-store sales channels.</a:t>
            </a: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3378211"/>
              </p:ext>
            </p:extLst>
          </p:nvPr>
        </p:nvGraphicFramePr>
        <p:xfrm>
          <a:off x="1269385" y="2806700"/>
          <a:ext cx="779356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4697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08000"/>
            <a:ext cx="5875866" cy="571500"/>
          </a:xfrm>
        </p:spPr>
        <p:txBody>
          <a:bodyPr>
            <a:normAutofit fontScale="90000"/>
          </a:bodyPr>
          <a:lstStyle/>
          <a:p>
            <a:r>
              <a:rPr lang="en-US" dirty="0"/>
              <a:t>Sales Channel Performance: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33489"/>
            <a:ext cx="8596668" cy="1484311"/>
          </a:xfrm>
        </p:spPr>
        <p:txBody>
          <a:bodyPr>
            <a:normAutofit/>
          </a:bodyPr>
          <a:lstStyle/>
          <a:p>
            <a:r>
              <a:rPr lang="en-US" sz="2000" dirty="0"/>
              <a:t>In-store dominates revenue</a:t>
            </a:r>
          </a:p>
          <a:p>
            <a:r>
              <a:rPr lang="en-US" sz="2000" dirty="0"/>
              <a:t>Outlet contributes moderately</a:t>
            </a:r>
          </a:p>
          <a:p>
            <a:r>
              <a:rPr lang="en-US" sz="2000" dirty="0"/>
              <a:t>Online underperforms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30768" y="5551489"/>
            <a:ext cx="8596668" cy="823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000" i="1" dirty="0"/>
              <a:t>Sales are heavily driven by in-store purchases, while online channels shows significant growth potential but currently underperform.</a:t>
            </a: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9481098"/>
              </p:ext>
            </p:extLst>
          </p:nvPr>
        </p:nvGraphicFramePr>
        <p:xfrm>
          <a:off x="2090652" y="2590800"/>
          <a:ext cx="5651500" cy="2655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0849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4682066" cy="558800"/>
          </a:xfrm>
        </p:spPr>
        <p:txBody>
          <a:bodyPr>
            <a:normAutofit fontScale="90000"/>
          </a:bodyPr>
          <a:lstStyle/>
          <a:p>
            <a:r>
              <a:rPr lang="en-US" dirty="0"/>
              <a:t>Retailer Performance: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23989"/>
            <a:ext cx="8596668" cy="1179511"/>
          </a:xfrm>
        </p:spPr>
        <p:txBody>
          <a:bodyPr>
            <a:noAutofit/>
          </a:bodyPr>
          <a:lstStyle/>
          <a:p>
            <a:r>
              <a:rPr lang="en-US" sz="2000" dirty="0"/>
              <a:t>Top Retailers: West Gear and Footlocker lead sales</a:t>
            </a:r>
          </a:p>
          <a:p>
            <a:r>
              <a:rPr lang="en-US" sz="2000" dirty="0"/>
              <a:t>Sports Direct also performs strongly</a:t>
            </a:r>
          </a:p>
          <a:p>
            <a:r>
              <a:rPr lang="en-US" sz="2000" dirty="0"/>
              <a:t>Low Performers: Amazon, Walmart &amp; Kohl’s underperform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77334" y="5729289"/>
            <a:ext cx="8596668" cy="938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000" i="1" dirty="0"/>
              <a:t>Sales are concentrated among a few key retailers, with West Gear and Footlocker contributing the highest revenue.</a:t>
            </a: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0294451"/>
              </p:ext>
            </p:extLst>
          </p:nvPr>
        </p:nvGraphicFramePr>
        <p:xfrm>
          <a:off x="1737168" y="2921795"/>
          <a:ext cx="6477000" cy="2539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246893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734" y="749300"/>
            <a:ext cx="3386666" cy="546100"/>
          </a:xfrm>
        </p:spPr>
        <p:txBody>
          <a:bodyPr>
            <a:normAutofit fontScale="90000"/>
          </a:bodyPr>
          <a:lstStyle/>
          <a:p>
            <a:r>
              <a:rPr lang="en-US" dirty="0"/>
              <a:t>Key Insights: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2334" y="1766889"/>
            <a:ext cx="7882466" cy="2767011"/>
          </a:xfrm>
        </p:spPr>
        <p:txBody>
          <a:bodyPr>
            <a:normAutofit/>
          </a:bodyPr>
          <a:lstStyle/>
          <a:p>
            <a:r>
              <a:rPr lang="en-US" sz="2000" dirty="0"/>
              <a:t>Men’s Street Footwear drives the highest sales.</a:t>
            </a:r>
          </a:p>
          <a:p>
            <a:r>
              <a:rPr lang="en-US" sz="2000" dirty="0"/>
              <a:t>West region is the top revenue and profit hub.</a:t>
            </a:r>
          </a:p>
          <a:p>
            <a:r>
              <a:rPr lang="en-US" sz="2000" dirty="0"/>
              <a:t>Midwest shows strong growth potential despite low sales.</a:t>
            </a:r>
          </a:p>
          <a:p>
            <a:r>
              <a:rPr lang="en-US" sz="2000" dirty="0"/>
              <a:t>In-store channel dominates revenue generation.</a:t>
            </a:r>
          </a:p>
          <a:p>
            <a:r>
              <a:rPr lang="en-US" sz="2000" dirty="0"/>
              <a:t>Online channel underperforms and needs improvement.</a:t>
            </a:r>
          </a:p>
          <a:p>
            <a:r>
              <a:rPr lang="en-US" sz="2000" dirty="0"/>
              <a:t>Sales increased significantly from 2020 to 2021.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67834" y="5005389"/>
            <a:ext cx="8479366" cy="1028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000" i="1" dirty="0"/>
              <a:t>Overall, sales performance is driven by strong regional dominance, product demands, and physical retail channels.</a:t>
            </a:r>
          </a:p>
        </p:txBody>
      </p:sp>
    </p:spTree>
    <p:extLst>
      <p:ext uri="{BB962C8B-B14F-4D97-AF65-F5344CB8AC3E}">
        <p14:creationId xmlns:p14="http://schemas.microsoft.com/office/powerpoint/2010/main" val="1103330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3932766" cy="622300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Recommendations: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9134" y="1754189"/>
            <a:ext cx="7641166" cy="2208211"/>
          </a:xfrm>
        </p:spPr>
        <p:txBody>
          <a:bodyPr>
            <a:normAutofit/>
          </a:bodyPr>
          <a:lstStyle/>
          <a:p>
            <a:r>
              <a:rPr lang="en-US" sz="2000" dirty="0"/>
              <a:t>Expand Men’s Street Footwear (high demand).</a:t>
            </a:r>
          </a:p>
          <a:p>
            <a:r>
              <a:rPr lang="en-US" sz="2000" dirty="0"/>
              <a:t>Improve Women’s Athletic Footwear (low performance).</a:t>
            </a:r>
          </a:p>
          <a:p>
            <a:r>
              <a:rPr lang="en-US" sz="2000" dirty="0"/>
              <a:t>Strengthen online sales channel.</a:t>
            </a:r>
          </a:p>
          <a:p>
            <a:r>
              <a:rPr lang="en-US" sz="2000" dirty="0"/>
              <a:t>Invest in Midwest (high growth potential).</a:t>
            </a:r>
          </a:p>
          <a:p>
            <a:r>
              <a:rPr lang="en-US" sz="2000" dirty="0"/>
              <a:t>Maximize West region profitability.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89516" y="4535489"/>
            <a:ext cx="8138583" cy="1141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000" i="1" dirty="0"/>
              <a:t>These recommendations focus on maximizing strong areas while addressing underperforming segments to drive overall growth.</a:t>
            </a:r>
          </a:p>
        </p:txBody>
      </p:sp>
    </p:spTree>
    <p:extLst>
      <p:ext uri="{BB962C8B-B14F-4D97-AF65-F5344CB8AC3E}">
        <p14:creationId xmlns:p14="http://schemas.microsoft.com/office/powerpoint/2010/main" val="4506988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2967566" cy="635000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7534" y="1671639"/>
            <a:ext cx="8596668" cy="2335211"/>
          </a:xfrm>
        </p:spPr>
        <p:txBody>
          <a:bodyPr>
            <a:normAutofit/>
          </a:bodyPr>
          <a:lstStyle/>
          <a:p>
            <a:r>
              <a:rPr lang="en-US" sz="2000" dirty="0"/>
              <a:t>Sales performance is driven by strong demand for men’s products.</a:t>
            </a:r>
          </a:p>
          <a:p>
            <a:r>
              <a:rPr lang="en-US" sz="2000" dirty="0"/>
              <a:t>The west region remains the primary revenue and profit hub.</a:t>
            </a:r>
          </a:p>
          <a:p>
            <a:r>
              <a:rPr lang="en-US" sz="2000" dirty="0"/>
              <a:t>Midwest presents a strong growth opportunity.</a:t>
            </a:r>
          </a:p>
          <a:p>
            <a:r>
              <a:rPr lang="en-US" sz="2000" dirty="0"/>
              <a:t>In-store sales dominate, while online channels need improvement.</a:t>
            </a:r>
          </a:p>
          <a:p>
            <a:r>
              <a:rPr lang="en-US" sz="2000" dirty="0"/>
              <a:t>A balanced strategy is required to sustain growth.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07534" y="4459289"/>
            <a:ext cx="8596668" cy="1077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000" i="1" dirty="0"/>
              <a:t>By maximizing strong markets and investing in growth opportunities, Adidas can achieve sustainable revenue growth and improved market performance.</a:t>
            </a:r>
          </a:p>
        </p:txBody>
      </p:sp>
    </p:spTree>
    <p:extLst>
      <p:ext uri="{BB962C8B-B14F-4D97-AF65-F5344CB8AC3E}">
        <p14:creationId xmlns:p14="http://schemas.microsoft.com/office/powerpoint/2010/main" val="403132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178300" y="2730500"/>
            <a:ext cx="3098800" cy="939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2">
                    <a:lumMod val="75000"/>
                  </a:schemeClr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5693D-1642-0483-4D81-AFEBDD4FEF58}"/>
              </a:ext>
            </a:extLst>
          </p:cNvPr>
          <p:cNvSpPr txBox="1"/>
          <p:nvPr/>
        </p:nvSpPr>
        <p:spPr>
          <a:xfrm>
            <a:off x="3051313" y="3109148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           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0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341</TotalTime>
  <Words>612</Words>
  <Application>Microsoft Office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Trebuchet MS</vt:lpstr>
      <vt:lpstr>Wingdings 3</vt:lpstr>
      <vt:lpstr>Facet</vt:lpstr>
      <vt:lpstr>ADIDAS SALES ANALYSIS</vt:lpstr>
      <vt:lpstr>Objectives:</vt:lpstr>
      <vt:lpstr>Dataset Overview:</vt:lpstr>
      <vt:lpstr>Key Performance Indicators (KPIs):</vt:lpstr>
      <vt:lpstr>Product Performance:</vt:lpstr>
      <vt:lpstr>Regional Performance:</vt:lpstr>
      <vt:lpstr>Sales Trend (2020-2021):</vt:lpstr>
      <vt:lpstr>Sales Channel Performance:</vt:lpstr>
      <vt:lpstr>Retailer Performance:</vt:lpstr>
      <vt:lpstr>Key Insights:</vt:lpstr>
      <vt:lpstr>Recommendations: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sharon ejikeme</cp:lastModifiedBy>
  <cp:revision>43</cp:revision>
  <dcterms:created xsi:type="dcterms:W3CDTF">2026-03-27T22:28:07Z</dcterms:created>
  <dcterms:modified xsi:type="dcterms:W3CDTF">2026-07-22T14:39:15Z</dcterms:modified>
</cp:coreProperties>
</file>